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openstreetmap.org/copyright" TargetMode="External"/><Relationship Id="rId2" Type="http://schemas.openxmlformats.org/officeDocument/2006/relationships/hyperlink" Target="https://react.dev/" TargetMode="External"/><Relationship Id="rId3" Type="http://schemas.openxmlformats.org/officeDocument/2006/relationships/hyperlink" Target="https://vite.dev/guide/" TargetMode="External"/><Relationship Id="rId4" Type="http://schemas.openxmlformats.org/officeDocument/2006/relationships/hyperlink" Target="https://firebase.google.com/docs" TargetMode="External"/><Relationship Id="rId5" Type="http://schemas.openxmlformats.org/officeDocument/2006/relationships/hyperlink" Target="https://ndma.gov.in/" TargetMode="External"/><Relationship Id="rId6" Type="http://schemas.openxmlformats.org/officeDocument/2006/relationships/hyperlink" Target="https://ndma.gov.in/" TargetMode="External"/><Relationship Id="rId7" Type="http://schemas.openxmlformats.org/officeDocument/2006/relationships/hyperlink" Target="https://github.com/Alliedbeast/MargSetu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40080"/>
            <a:ext cx="4754880" cy="384048"/>
          </a:xfrm>
          <a:prstGeom prst="roundRect">
            <a:avLst>
              <a:gd name="adj" fmla="val 47619"/>
            </a:avLst>
          </a:prstGeom>
          <a:solidFill>
            <a:srgbClr val="2EC4D6">
              <a:alpha val="15000"/>
            </a:srgbClr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6400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PROJECT  |  PROTOTYPE IN DEVELOPMENT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 Setu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Disaster Response &amp; Route Coordination Platform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“Connecting incident awareness, route information, and emergency resources in one unified operational dashboard.”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754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disaster-management prototype that helps response teams organise incident information, review geographic conditions and make better-informed coordination decisions — with an initial focus on the challenging terrain of Sikkim and Northeast India.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0" y="6355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Mangan · North Sikkim (illustrative terrain)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decision depends on information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869680" y="6446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 SETU   |   2 / 7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B1424">
              <a:alpha val="45000"/>
            </a:srgbClr>
          </a:solidFill>
          <a:ln w="12700">
            <a:solidFill>
              <a:srgbClr val="0B142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5120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Landslides, flash floods and severe weather in mountain regions can cut roads and split information across many channels.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838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image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459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874520"/>
            <a:ext cx="64008" cy="4572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17320" y="1828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Situational Awareness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reports, maps and resource details sit in separate channels, making a shared picture hard to form.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160520" y="16459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1874520"/>
            <a:ext cx="64008" cy="45720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029200" y="1828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Uncertain Road Accessibility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8912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Landslides and flooding disrupt critical routes; teams struggle to assess access without current, verified information.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657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886200"/>
            <a:ext cx="64008" cy="4572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417320" y="3840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Coordination Challenges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77240" y="4480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several incidents happen at once, it is hard to see where vehicles, supplies and help are needed.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160520" y="3657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60520" y="3886200"/>
            <a:ext cx="64008" cy="4572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029200" y="3840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Field Information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389120" y="44805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from disaster sites must reach coordinators in a structured, timely way to support decisions.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48640" y="5715000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Disaster response requires more than information collection — it requires a clear, coordinated operational picture.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dashboard, a clearer picture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69680" y="6446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 SETU   |   3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37560" y="1600200"/>
            <a:ext cx="5486400" cy="3154680"/>
          </a:xfrm>
          <a:prstGeom prst="roundRect">
            <a:avLst>
              <a:gd name="adj" fmla="val 2899"/>
            </a:avLst>
          </a:prstGeom>
          <a:solidFill>
            <a:srgbClr val="0E1A2E"/>
          </a:solidFill>
          <a:ln w="15875">
            <a:solidFill>
              <a:srgbClr val="2EC4D6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71850" y="1634490"/>
            <a:ext cx="5417820" cy="240030"/>
          </a:xfrm>
          <a:prstGeom prst="rect">
            <a:avLst/>
          </a:prstGeom>
          <a:solidFill>
            <a:srgbClr val="111D33"/>
          </a:solidFill>
          <a:ln w="12700">
            <a:solidFill>
              <a:srgbClr val="111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0430" y="163449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 SETU</a:t>
            </a:r>
            <a:pPr indent="0" marL="0">
              <a:buNone/>
            </a:pPr>
            <a:r>
              <a:rPr lang="en-US" sz="7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Dashboard  ·  Illustrative data</a:t>
            </a:r>
            <a:endParaRPr lang="en-US" sz="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40430" y="1943100"/>
            <a:ext cx="3360420" cy="18859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89220" y="2491740"/>
            <a:ext cx="109728" cy="109728"/>
          </a:xfrm>
          <a:prstGeom prst="ellipse">
            <a:avLst/>
          </a:prstGeom>
          <a:solidFill>
            <a:srgbClr val="E5484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12180" y="3246120"/>
            <a:ext cx="109728" cy="109728"/>
          </a:xfrm>
          <a:prstGeom prst="ellipse">
            <a:avLst/>
          </a:prstGeom>
          <a:solidFill>
            <a:srgbClr val="F2A9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383280"/>
            <a:ext cx="109728" cy="109728"/>
          </a:xfrm>
          <a:prstGeom prst="ellipse">
            <a:avLst/>
          </a:prstGeom>
          <a:solidFill>
            <a:srgbClr val="F2A93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00700" y="3691890"/>
            <a:ext cx="11658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OpenStreetMap contributors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6903720" y="1943100"/>
            <a:ext cx="1817370" cy="891540"/>
          </a:xfrm>
          <a:prstGeom prst="rect">
            <a:avLst/>
          </a:prstGeom>
          <a:solidFill>
            <a:srgbClr val="16253F"/>
          </a:solidFill>
          <a:ln w="9525">
            <a:solidFill>
              <a:srgbClr val="243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72300" y="1970532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986016" y="2231136"/>
            <a:ext cx="61722" cy="6172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09460" y="2231136"/>
            <a:ext cx="1303020" cy="61722"/>
          </a:xfrm>
          <a:prstGeom prst="rect">
            <a:avLst/>
          </a:prstGeom>
          <a:solidFill>
            <a:srgbClr val="2A3F6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86016" y="2436876"/>
            <a:ext cx="61722" cy="6172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09460" y="2436876"/>
            <a:ext cx="1028700" cy="61722"/>
          </a:xfrm>
          <a:prstGeom prst="rect">
            <a:avLst/>
          </a:prstGeom>
          <a:solidFill>
            <a:srgbClr val="2A3F6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86016" y="2642616"/>
            <a:ext cx="61722" cy="6172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09460" y="2642616"/>
            <a:ext cx="1371600" cy="61722"/>
          </a:xfrm>
          <a:prstGeom prst="rect">
            <a:avLst/>
          </a:prstGeom>
          <a:solidFill>
            <a:srgbClr val="2A3F6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03720" y="2937510"/>
            <a:ext cx="1817370" cy="891540"/>
          </a:xfrm>
          <a:prstGeom prst="rect">
            <a:avLst/>
          </a:prstGeom>
          <a:solidFill>
            <a:srgbClr val="16253F"/>
          </a:solidFill>
          <a:ln w="9525">
            <a:solidFill>
              <a:srgbClr val="2439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72300" y="2964942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&amp; Resources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986016" y="3225546"/>
            <a:ext cx="61722" cy="61722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09460" y="3225546"/>
            <a:ext cx="1097280" cy="61722"/>
          </a:xfrm>
          <a:prstGeom prst="rect">
            <a:avLst/>
          </a:prstGeom>
          <a:solidFill>
            <a:srgbClr val="2A3F6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86016" y="3431286"/>
            <a:ext cx="61722" cy="61722"/>
          </a:xfrm>
          <a:prstGeom prst="ellipse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09460" y="3431286"/>
            <a:ext cx="1371600" cy="61722"/>
          </a:xfrm>
          <a:prstGeom prst="rect">
            <a:avLst/>
          </a:prstGeom>
          <a:solidFill>
            <a:srgbClr val="2A3F6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86016" y="3637026"/>
            <a:ext cx="61722" cy="61722"/>
          </a:xfrm>
          <a:prstGeom prst="ellipse">
            <a:avLst/>
          </a:prstGeom>
          <a:solidFill>
            <a:srgbClr val="8A9AB3"/>
          </a:solidFill>
          <a:ln w="12700">
            <a:solidFill>
              <a:srgbClr val="8A9AB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09460" y="3637026"/>
            <a:ext cx="822960" cy="61722"/>
          </a:xfrm>
          <a:prstGeom prst="rect">
            <a:avLst/>
          </a:prstGeom>
          <a:solidFill>
            <a:srgbClr val="2A3F6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40430" y="3931920"/>
            <a:ext cx="3360420" cy="720090"/>
          </a:xfrm>
          <a:prstGeom prst="rect">
            <a:avLst/>
          </a:prstGeom>
          <a:solidFill>
            <a:srgbClr val="16253F"/>
          </a:solidFill>
          <a:ln w="9525">
            <a:solidFill>
              <a:srgbClr val="2439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09010" y="3966210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3509010" y="4240530"/>
            <a:ext cx="2194560" cy="61722"/>
          </a:xfrm>
          <a:prstGeom prst="rect">
            <a:avLst/>
          </a:prstGeom>
          <a:solidFill>
            <a:srgbClr val="2A3F6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09010" y="4411980"/>
            <a:ext cx="1645920" cy="61722"/>
          </a:xfrm>
          <a:prstGeom prst="rect">
            <a:avLst/>
          </a:prstGeom>
          <a:solidFill>
            <a:srgbClr val="2A3F63"/>
          </a:solidFill>
          <a:ln w="12700">
            <a:solidFill>
              <a:srgbClr val="2A3F6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03720" y="3931920"/>
            <a:ext cx="1817370" cy="720090"/>
          </a:xfrm>
          <a:prstGeom prst="rect">
            <a:avLst/>
          </a:prstGeom>
          <a:solidFill>
            <a:srgbClr val="16253F"/>
          </a:solidFill>
          <a:ln w="9525">
            <a:solidFill>
              <a:srgbClr val="2439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72300" y="3966210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Risk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040880" y="4394835"/>
            <a:ext cx="240030" cy="188595"/>
          </a:xfrm>
          <a:prstGeom prst="rect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52360" y="4243959"/>
            <a:ext cx="240030" cy="339471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863840" y="4432554"/>
            <a:ext cx="240030" cy="150876"/>
          </a:xfrm>
          <a:prstGeom prst="rect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75320" y="4319397"/>
            <a:ext cx="240030" cy="26403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8640" y="1600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Map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4864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context for locations and reported incidents.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548640" y="2697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Monitoring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4864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information organised in a dedicated panel.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548640" y="3794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Panel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548640" y="4114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 to present operational recommendations from available data.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9052560" y="1600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&amp; Resource Overview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05256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view of response vehicles and related details.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9052560" y="2697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Supply-Risk Awareness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905256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information on potential supply concerns.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9052560" y="3794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9052560" y="4114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user-profile workflow via Firebase.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11D33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77240" y="51206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bringing geographic context, incident information and response-resource visibility into one interface, Marg Setu aims to reduce information fragmentation and support more informed human decision-making.”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8503920" y="5120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today: </a:t>
            </a:r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panels, OpenStreetMap view, Firebase login.
</a:t>
            </a:r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data feeds, field reporting.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observation to coordination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69680" y="6446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 SETU   |   4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880360" y="1965960"/>
            <a:ext cx="548640" cy="0"/>
          </a:xfrm>
          <a:prstGeom prst="line">
            <a:avLst/>
          </a:prstGeom>
          <a:noFill/>
          <a:ln w="25400">
            <a:solidFill>
              <a:srgbClr val="2EC4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715000" y="1965960"/>
            <a:ext cx="548640" cy="0"/>
          </a:xfrm>
          <a:prstGeom prst="line">
            <a:avLst/>
          </a:prstGeom>
          <a:noFill/>
          <a:ln w="25400">
            <a:solidFill>
              <a:srgbClr val="2EC4D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549640" y="1965960"/>
            <a:ext cx="548640" cy="0"/>
          </a:xfrm>
          <a:prstGeom prst="line">
            <a:avLst/>
          </a:prstGeom>
          <a:noFill/>
          <a:ln w="25400">
            <a:solidFill>
              <a:srgbClr val="2EC4D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0B1424"/>
          </a:solidFill>
          <a:ln w="25400">
            <a:solidFill>
              <a:srgbClr val="2EC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users sign in to the web application.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1645920"/>
            <a:ext cx="640080" cy="640080"/>
          </a:xfrm>
          <a:prstGeom prst="ellipse">
            <a:avLst/>
          </a:prstGeom>
          <a:solidFill>
            <a:srgbClr val="0B1424"/>
          </a:solidFill>
          <a:ln w="254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9768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map and available incident information.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640080" cy="640080"/>
          </a:xfrm>
          <a:prstGeom prst="ellipse">
            <a:avLst/>
          </a:prstGeom>
          <a:solidFill>
            <a:srgbClr val="0B1424"/>
          </a:solidFill>
          <a:ln w="25400">
            <a:solidFill>
              <a:srgbClr val="2EC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3232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vehicles, recommendations and supply-risk indicators.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89720" y="1645920"/>
            <a:ext cx="640080" cy="640080"/>
          </a:xfrm>
          <a:prstGeom prst="ellipse">
            <a:avLst/>
          </a:prstGeom>
          <a:solidFill>
            <a:srgbClr val="0B1424"/>
          </a:solidFill>
          <a:ln w="25400">
            <a:solidFill>
              <a:srgbClr val="2EC4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96696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972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use the information to plan appropriate next actions.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11091672" cy="2926080"/>
          </a:xfrm>
          <a:prstGeom prst="roundRect">
            <a:avLst>
              <a:gd name="adj" fmla="val 2500"/>
            </a:avLst>
          </a:prstGeom>
          <a:solidFill>
            <a:srgbClr val="111D33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INFORMATION 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526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6253F"/>
          </a:solidFill>
          <a:ln w="15875">
            <a:solidFill>
              <a:srgbClr val="2EC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Officers / Coordinators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97480" y="4773168"/>
            <a:ext cx="320040" cy="0"/>
          </a:xfrm>
          <a:prstGeom prst="line">
            <a:avLst/>
          </a:prstGeom>
          <a:noFill/>
          <a:ln w="15875">
            <a:solidFill>
              <a:srgbClr val="8A9AB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17520" y="45262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6253F"/>
          </a:solidFill>
          <a:ln w="15875">
            <a:solidFill>
              <a:srgbClr val="2EC4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773168"/>
            <a:ext cx="320040" cy="0"/>
          </a:xfrm>
          <a:prstGeom prst="line">
            <a:avLst/>
          </a:prstGeom>
          <a:noFill/>
          <a:ln w="15875">
            <a:solidFill>
              <a:srgbClr val="8A9AB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74920" y="45262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16253F"/>
          </a:solidFill>
          <a:ln w="15875">
            <a:solidFill>
              <a:srgbClr val="2EC4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526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0" y="4773168"/>
            <a:ext cx="411480" cy="-658368"/>
          </a:xfrm>
          <a:prstGeom prst="line">
            <a:avLst/>
          </a:prstGeom>
          <a:noFill/>
          <a:ln w="15875">
            <a:solidFill>
              <a:srgbClr val="8A9AB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58000" y="4773168"/>
            <a:ext cx="411480" cy="0"/>
          </a:xfrm>
          <a:prstGeom prst="line">
            <a:avLst/>
          </a:prstGeom>
          <a:noFill/>
          <a:ln w="15875">
            <a:solidFill>
              <a:srgbClr val="8A9AB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58000" y="4773168"/>
            <a:ext cx="411480" cy="667512"/>
          </a:xfrm>
          <a:prstGeom prst="line">
            <a:avLst/>
          </a:prstGeom>
          <a:noFill/>
          <a:ln w="15875">
            <a:solidFill>
              <a:srgbClr val="8A9AB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6948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6253F"/>
          </a:solidFill>
          <a:ln w="15875">
            <a:solidFill>
              <a:srgbClr val="2EC4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269480" y="45262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6253F"/>
          </a:solidFill>
          <a:ln w="15875">
            <a:solidFill>
              <a:srgbClr val="2EC4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4526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Information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269480" y="52120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6253F"/>
          </a:solidFill>
          <a:ln w="15875">
            <a:solidFill>
              <a:srgbClr val="2EC4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212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Decision Panels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372600" y="4773168"/>
            <a:ext cx="320040" cy="0"/>
          </a:xfrm>
          <a:prstGeom prst="line">
            <a:avLst/>
          </a:prstGeom>
          <a:noFill/>
          <a:ln w="15875">
            <a:solidFill>
              <a:srgbClr val="8A9AB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692640" y="452628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16253F"/>
          </a:solidFill>
          <a:ln w="15875">
            <a:solidFill>
              <a:srgbClr val="14A3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0" y="4526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&amp; Coordination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017520" y="54406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6253F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5440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886200" y="5440680"/>
            <a:ext cx="914" cy="-411480"/>
          </a:xfrm>
          <a:prstGeom prst="line">
            <a:avLst/>
          </a:prstGeom>
          <a:noFill/>
          <a:ln w="15875">
            <a:solidFill>
              <a:srgbClr val="8A9AB3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269480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data →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flow of the prototype. External emergency feeds, live GPS tracking, automatic dispatch and AI route-safety verification are not implemented.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a proven, open web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69680" y="6446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 SETU   |   5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01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 </a:t>
            </a:r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modular UI components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323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  </a:t>
            </a:r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 and production builds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62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/ JSX + CSS   </a:t>
            </a:r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logic, layout, styling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584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  </a:t>
            </a:r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backend integration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507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097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  </a:t>
            </a:r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context and visualisation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4315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733288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733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Codespaces   </a:t>
            </a:r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control, cloud development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Marg Setu valuable?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17920" y="2103120"/>
            <a:ext cx="5422392" cy="1280160"/>
          </a:xfrm>
          <a:prstGeom prst="roundRect">
            <a:avLst>
              <a:gd name="adj" fmla="val 5714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103120"/>
            <a:ext cx="73152" cy="1280160"/>
          </a:xfrm>
          <a:prstGeom prst="rect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Operational View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2606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several categories of disaster-response information into a common interface.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0" y="3520440"/>
            <a:ext cx="5422392" cy="1280160"/>
          </a:xfrm>
          <a:prstGeom prst="roundRect">
            <a:avLst>
              <a:gd name="adj" fmla="val 5714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520440"/>
            <a:ext cx="73152" cy="1280160"/>
          </a:xfrm>
          <a:prstGeom prst="rect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&amp; Extendable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2240" y="4023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components form a base for verified incident feeds, field reporting and richer resource management.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17920" y="4937760"/>
            <a:ext cx="5422392" cy="1280160"/>
          </a:xfrm>
          <a:prstGeom prst="roundRect">
            <a:avLst>
              <a:gd name="adj" fmla="val 5714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937760"/>
            <a:ext cx="73152" cy="1280160"/>
          </a:xfrm>
          <a:prstGeom prst="rect">
            <a:avLst/>
          </a:prstGeom>
          <a:solidFill>
            <a:srgbClr val="14A3A0"/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Relevance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5440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 on mountain regions like Sikkim stresses geographic awareness, road access and field-to-control-room communication.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AI, predictive analytics, satellite intelligence or real-time route optimisation is claimed.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Marg Setu is today — and where it can 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69680" y="6446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 SETU   |   6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949440" cy="0"/>
          </a:xfrm>
          <a:prstGeom prst="line">
            <a:avLst/>
          </a:prstGeom>
          <a:noFill/>
          <a:ln w="38100">
            <a:solidFill>
              <a:srgbClr val="243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73352"/>
            <a:ext cx="310896" cy="310896"/>
          </a:xfrm>
          <a:prstGeom prst="ellipse">
            <a:avLst/>
          </a:prstGeom>
          <a:solidFill>
            <a:srgbClr val="14A3A0"/>
          </a:solidFill>
          <a:ln w="25400">
            <a:solidFill>
              <a:srgbClr val="0B1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3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Prototype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incident, vehicle, recommendation and supply-risk panels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login and user profile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08960" y="1673352"/>
            <a:ext cx="310896" cy="310896"/>
          </a:xfrm>
          <a:prstGeom prst="ellipse">
            <a:avLst/>
          </a:prstGeom>
          <a:solidFill>
            <a:srgbClr val="2EC4D6"/>
          </a:solidFill>
          <a:ln w="25400">
            <a:solidFill>
              <a:srgbClr val="0B1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&amp;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incident and road-condition data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Field-officer reports with photos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security, deployment readiness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32120" y="1673352"/>
            <a:ext cx="310896" cy="31089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0B1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Expansion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96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resource and supply tracking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 and a Sikkim regional language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use under weak connectivity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7132320" cy="1143000"/>
          </a:xfrm>
          <a:prstGeom prst="roundRect">
            <a:avLst>
              <a:gd name="adj" fmla="val 6400"/>
            </a:avLst>
          </a:prstGeom>
          <a:solidFill>
            <a:srgbClr val="16253F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63440"/>
            <a:ext cx="6812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 </a:t>
            </a:r>
            <a:pPr indent="0" marL="0">
              <a:buNone/>
            </a:pPr>
            <a:r>
              <a:rPr lang="en-US" sz="12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 Setu is a prototype. Recommendation reliability depends on available data and implemented logic; live emergency feeds and route-safety verification need further integration and validation.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2440" y="1600200"/>
            <a:ext cx="3547872" cy="4160520"/>
          </a:xfrm>
          <a:prstGeom prst="roundRect">
            <a:avLst>
              <a:gd name="adj" fmla="val 2062"/>
            </a:avLst>
          </a:prstGeom>
          <a:solidFill>
            <a:srgbClr val="111D33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2267712"/>
            <a:ext cx="201168" cy="201168"/>
          </a:xfrm>
          <a:prstGeom prst="ellipse">
            <a:avLst/>
          </a:prstGeom>
          <a:solidFill>
            <a:srgbClr val="14A3A0">
              <a:alpha val="40000"/>
            </a:srgbClr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2194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into reported incidents and affected areas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3136392"/>
            <a:ext cx="201168" cy="201168"/>
          </a:xfrm>
          <a:prstGeom prst="ellipse">
            <a:avLst/>
          </a:prstGeom>
          <a:solidFill>
            <a:srgbClr val="14A3A0">
              <a:alpha val="40000"/>
            </a:srgbClr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41080" y="3063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operational information in one shared dashboard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21040" y="4005072"/>
            <a:ext cx="201168" cy="201168"/>
          </a:xfrm>
          <a:prstGeom prst="ellipse">
            <a:avLst/>
          </a:prstGeom>
          <a:solidFill>
            <a:srgbClr val="14A3A0">
              <a:alpha val="40000"/>
            </a:srgbClr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3931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Better-informed assessment of routes, vehicles and resources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21040" y="4873752"/>
            <a:ext cx="201168" cy="201168"/>
          </a:xfrm>
          <a:prstGeom prst="ellipse">
            <a:avLst/>
          </a:prstGeom>
          <a:solidFill>
            <a:srgbClr val="14A3A0">
              <a:alpha val="40000"/>
            </a:srgbClr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4800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for structured field reporting and relief coordination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 Setu aims to turn scattered operational information into a clearer foundation for coordinated disaster response.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foundations and institutional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69680" y="6446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 SETU   |   7 /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58968" cy="1051560"/>
          </a:xfrm>
          <a:prstGeom prst="roundRect">
            <a:avLst>
              <a:gd name="adj" fmla="val 6957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Contributors — OpenStreetMap</a:t>
            </a:r>
            <a:endParaRPr lang="en-US" sz="13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openstreetmap.org/copyright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2258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and attribution requirements for the mapping layer.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5458968" cy="1051560"/>
          </a:xfrm>
          <a:prstGeom prst="roundRect">
            <a:avLst>
              <a:gd name="adj" fmla="val 6957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75704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Documentation</a:t>
            </a:r>
            <a:endParaRPr lang="en-US" sz="13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6775704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react.dev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75704" y="2258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frontend development.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5458968" cy="1051560"/>
          </a:xfrm>
          <a:prstGeom prst="roundRect">
            <a:avLst>
              <a:gd name="adj" fmla="val 6957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Documentation</a:t>
            </a:r>
            <a:endParaRPr lang="en-US" sz="13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vite.dev/guide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34472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server and production build workflow.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2788920"/>
            <a:ext cx="5458968" cy="1051560"/>
          </a:xfrm>
          <a:prstGeom prst="roundRect">
            <a:avLst>
              <a:gd name="adj" fmla="val 6957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75704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Documentation</a:t>
            </a:r>
            <a:endParaRPr lang="en-US" sz="13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6775704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firebase.google.com/docs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75704" y="34472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backend integration.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5458968" cy="1051560"/>
          </a:xfrm>
          <a:prstGeom prst="roundRect">
            <a:avLst>
              <a:gd name="adj" fmla="val 6957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4300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Disaster Management Authority (India)</a:t>
            </a:r>
            <a:endParaRPr lang="en-US" sz="1350" dirty="0"/>
          </a:p>
        </p:txBody>
      </p:sp>
      <p:sp>
        <p:nvSpPr>
          <p:cNvPr id="28" name="Text 26">
            <a:hlinkClick r:id="rId5" tooltip=""/>
          </p:cNvPr>
          <p:cNvSpPr/>
          <p:nvPr/>
        </p:nvSpPr>
        <p:spPr>
          <a:xfrm>
            <a:off x="1143000" y="4370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ndma.gov.in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3000" y="4636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Indian disaster-management guidance and institutional context.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81344" y="3977640"/>
            <a:ext cx="5458968" cy="1051560"/>
          </a:xfrm>
          <a:prstGeom prst="roundRect">
            <a:avLst>
              <a:gd name="adj" fmla="val 6957"/>
            </a:avLst>
          </a:prstGeom>
          <a:solidFill>
            <a:srgbClr val="16253F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75704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Disaster Management Plan (NDMA, India)</a:t>
            </a:r>
            <a:endParaRPr lang="en-US" sz="1350" dirty="0"/>
          </a:p>
        </p:txBody>
      </p:sp>
      <p:sp>
        <p:nvSpPr>
          <p:cNvPr id="33" name="Text 31">
            <a:hlinkClick r:id="rId6" tooltip=""/>
          </p:cNvPr>
          <p:cNvSpPr/>
          <p:nvPr/>
        </p:nvSpPr>
        <p:spPr>
          <a:xfrm>
            <a:off x="6775704" y="4370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ndma.gov.in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75704" y="4636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on coordinated preparedness and response. [Confirm edition &amp; year before citing]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7589520" cy="1005840"/>
          </a:xfrm>
          <a:prstGeom prst="roundRect">
            <a:avLst>
              <a:gd name="adj" fmla="val 7273"/>
            </a:avLst>
          </a:prstGeom>
          <a:solidFill>
            <a:srgbClr val="111D33"/>
          </a:solidFill>
          <a:ln w="12700">
            <a:solidFill>
              <a:srgbClr val="243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30352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</a:t>
            </a:r>
            <a:pPr indent="0" marL="0">
              <a:buNone/>
            </a:pPr>
            <a:r>
              <a:rPr lang="en-US" sz="115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design combines disaster-management context with a modular web-dashboard implementation. The cited sources establish technical foundations and institutional context; they do not independently validate Marg Setu's effectiveness.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21040" y="5257800"/>
            <a:ext cx="3319272" cy="1005840"/>
          </a:xfrm>
          <a:prstGeom prst="roundRect">
            <a:avLst>
              <a:gd name="adj" fmla="val 7273"/>
            </a:avLst>
          </a:prstGeom>
          <a:solidFill>
            <a:srgbClr val="16253F"/>
          </a:solidFill>
          <a:ln w="12700">
            <a:solidFill>
              <a:srgbClr val="14A3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5303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
</a:t>
            </a:r>
            <a:pPr indent="0" marL="0">
              <a:buNone/>
            </a:pPr>
            <a:r>
              <a:rPr lang="en-US" sz="1300" b="1" u="sng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github.com/Alliedbeast/MargSetu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 Setu</dc:title>
  <dc:subject>PptxGenJS Presentation</dc:subject>
  <dc:creator>PptxGenJS</dc:creator>
  <cp:lastModifiedBy>PptxGenJS</cp:lastModifiedBy>
  <cp:revision>1</cp:revision>
  <dcterms:created xsi:type="dcterms:W3CDTF">2026-10-29T14:53:40Z</dcterms:created>
  <dcterms:modified xsi:type="dcterms:W3CDTF">2026-10-29T14:53:40Z</dcterms:modified>
</cp:coreProperties>
</file>